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iret One"/>
      <p:regular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oiretOn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0d498a89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c0d498a899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be44f6ad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be44f6ad6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b7aa4e31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b7aa4e31b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b7aa4e3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b7aa4e31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be44f6ad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cbe44f6ad6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be44f6ad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be44f6ad6_0_1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be44f6ad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cbe44f6ad6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be44f6ad6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cbe44f6ad6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be44f6ad6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be44f6ad6_0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be44f6ad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cbe44f6ad6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be44f6ad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cbe44f6ad6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3D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235666" y="-89821"/>
            <a:ext cx="17816668" cy="10141155"/>
            <a:chOff x="0" y="-85725"/>
            <a:chExt cx="4692456" cy="2670922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0" y="-85725"/>
              <a:ext cx="4692456" cy="26709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3870211" y="6400494"/>
            <a:ext cx="13903439" cy="2646386"/>
            <a:chOff x="0" y="0"/>
            <a:chExt cx="2135122" cy="4064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2135122" cy="406400"/>
            </a:xfrm>
            <a:custGeom>
              <a:rect b="b" l="l" r="r" t="t"/>
              <a:pathLst>
                <a:path extrusionOk="0" h="406400" w="2135122">
                  <a:moveTo>
                    <a:pt x="1931922" y="0"/>
                  </a:moveTo>
                  <a:cubicBezTo>
                    <a:pt x="2044147" y="0"/>
                    <a:pt x="2135122" y="90976"/>
                    <a:pt x="2135122" y="203200"/>
                  </a:cubicBezTo>
                  <a:cubicBezTo>
                    <a:pt x="2135122" y="315424"/>
                    <a:pt x="2044147" y="406400"/>
                    <a:pt x="19319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BA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19050"/>
              <a:ext cx="2135122" cy="387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3"/>
          <p:cNvGrpSpPr/>
          <p:nvPr/>
        </p:nvGrpSpPr>
        <p:grpSpPr>
          <a:xfrm>
            <a:off x="514350" y="3481130"/>
            <a:ext cx="13833434" cy="2646386"/>
            <a:chOff x="0" y="0"/>
            <a:chExt cx="2124372" cy="406400"/>
          </a:xfrm>
        </p:grpSpPr>
        <p:sp>
          <p:nvSpPr>
            <p:cNvPr id="91" name="Google Shape;91;p13"/>
            <p:cNvSpPr/>
            <p:nvPr/>
          </p:nvSpPr>
          <p:spPr>
            <a:xfrm>
              <a:off x="0" y="0"/>
              <a:ext cx="2124372" cy="406400"/>
            </a:xfrm>
            <a:custGeom>
              <a:rect b="b" l="l" r="r" t="t"/>
              <a:pathLst>
                <a:path extrusionOk="0" h="406400" w="2124372">
                  <a:moveTo>
                    <a:pt x="1921172" y="0"/>
                  </a:moveTo>
                  <a:cubicBezTo>
                    <a:pt x="2033396" y="0"/>
                    <a:pt x="2124372" y="90976"/>
                    <a:pt x="2124372" y="203200"/>
                  </a:cubicBezTo>
                  <a:cubicBezTo>
                    <a:pt x="2124372" y="315424"/>
                    <a:pt x="2033396" y="406400"/>
                    <a:pt x="192117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0" y="19050"/>
              <a:ext cx="2124372" cy="387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>
            <a:off x="8138081" y="512789"/>
            <a:ext cx="7713834" cy="2646386"/>
            <a:chOff x="0" y="0"/>
            <a:chExt cx="1184598" cy="406400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1184598" cy="406400"/>
            </a:xfrm>
            <a:custGeom>
              <a:rect b="b" l="l" r="r" t="t"/>
              <a:pathLst>
                <a:path extrusionOk="0" h="406400" w="1184598">
                  <a:moveTo>
                    <a:pt x="981398" y="0"/>
                  </a:moveTo>
                  <a:cubicBezTo>
                    <a:pt x="1093622" y="0"/>
                    <a:pt x="1184598" y="90976"/>
                    <a:pt x="1184598" y="203200"/>
                  </a:cubicBezTo>
                  <a:cubicBezTo>
                    <a:pt x="1184598" y="315424"/>
                    <a:pt x="1093622" y="406400"/>
                    <a:pt x="98139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4BA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0" y="19050"/>
              <a:ext cx="1184598" cy="387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/>
          <p:nvPr/>
        </p:nvSpPr>
        <p:spPr>
          <a:xfrm>
            <a:off x="4470445" y="512789"/>
            <a:ext cx="2646386" cy="2646386"/>
          </a:xfrm>
          <a:custGeom>
            <a:rect b="b" l="l" r="r" t="t"/>
            <a:pathLst>
              <a:path extrusionOk="0" h="2646386" w="2646386">
                <a:moveTo>
                  <a:pt x="0" y="0"/>
                </a:moveTo>
                <a:lnTo>
                  <a:pt x="2646385" y="0"/>
                </a:lnTo>
                <a:lnTo>
                  <a:pt x="2646385" y="2646385"/>
                </a:lnTo>
                <a:lnTo>
                  <a:pt x="0" y="2646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3"/>
          <p:cNvSpPr/>
          <p:nvPr/>
        </p:nvSpPr>
        <p:spPr>
          <a:xfrm>
            <a:off x="16857915" y="512789"/>
            <a:ext cx="1194419" cy="2646386"/>
          </a:xfrm>
          <a:custGeom>
            <a:rect b="b" l="l" r="r" t="t"/>
            <a:pathLst>
              <a:path extrusionOk="0" h="2646386" w="1194419">
                <a:moveTo>
                  <a:pt x="0" y="0"/>
                </a:moveTo>
                <a:lnTo>
                  <a:pt x="1194419" y="0"/>
                </a:lnTo>
                <a:lnTo>
                  <a:pt x="1194419" y="2646385"/>
                </a:lnTo>
                <a:lnTo>
                  <a:pt x="0" y="2646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21558" t="0"/>
            </a:stretch>
          </a:blipFill>
          <a:ln>
            <a:noFill/>
          </a:ln>
        </p:spPr>
      </p:sp>
      <p:sp>
        <p:nvSpPr>
          <p:cNvPr id="98" name="Google Shape;98;p13"/>
          <p:cNvSpPr/>
          <p:nvPr/>
        </p:nvSpPr>
        <p:spPr>
          <a:xfrm>
            <a:off x="802808" y="512789"/>
            <a:ext cx="2646386" cy="2646386"/>
          </a:xfrm>
          <a:custGeom>
            <a:rect b="b" l="l" r="r" t="t"/>
            <a:pathLst>
              <a:path extrusionOk="0" h="2646386" w="2646386">
                <a:moveTo>
                  <a:pt x="0" y="0"/>
                </a:moveTo>
                <a:lnTo>
                  <a:pt x="2646386" y="0"/>
                </a:lnTo>
                <a:lnTo>
                  <a:pt x="2646386" y="2646385"/>
                </a:lnTo>
                <a:lnTo>
                  <a:pt x="0" y="2646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3"/>
          <p:cNvSpPr/>
          <p:nvPr/>
        </p:nvSpPr>
        <p:spPr>
          <a:xfrm>
            <a:off x="802808" y="6369715"/>
            <a:ext cx="2646386" cy="2646386"/>
          </a:xfrm>
          <a:custGeom>
            <a:rect b="b" l="l" r="r" t="t"/>
            <a:pathLst>
              <a:path extrusionOk="0" h="2646386" w="2646386">
                <a:moveTo>
                  <a:pt x="0" y="0"/>
                </a:moveTo>
                <a:lnTo>
                  <a:pt x="2646386" y="0"/>
                </a:lnTo>
                <a:lnTo>
                  <a:pt x="2646386" y="2646386"/>
                </a:lnTo>
                <a:lnTo>
                  <a:pt x="0" y="26463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3"/>
          <p:cNvSpPr/>
          <p:nvPr/>
        </p:nvSpPr>
        <p:spPr>
          <a:xfrm>
            <a:off x="14879739" y="3432153"/>
            <a:ext cx="2646386" cy="2646386"/>
          </a:xfrm>
          <a:custGeom>
            <a:rect b="b" l="l" r="r" t="t"/>
            <a:pathLst>
              <a:path extrusionOk="0" h="2646386" w="2646386">
                <a:moveTo>
                  <a:pt x="0" y="0"/>
                </a:moveTo>
                <a:lnTo>
                  <a:pt x="2646386" y="0"/>
                </a:lnTo>
                <a:lnTo>
                  <a:pt x="2646386" y="2646385"/>
                </a:lnTo>
                <a:lnTo>
                  <a:pt x="0" y="2646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3"/>
          <p:cNvSpPr txBox="1"/>
          <p:nvPr/>
        </p:nvSpPr>
        <p:spPr>
          <a:xfrm>
            <a:off x="4531673" y="6672404"/>
            <a:ext cx="125805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0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and Development</a:t>
            </a:r>
            <a:endParaRPr sz="130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802808" y="9153525"/>
            <a:ext cx="111990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5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34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Simone Orange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834743" y="724304"/>
            <a:ext cx="6320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0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AI in</a:t>
            </a:r>
            <a:endParaRPr sz="130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802808" y="3704063"/>
            <a:ext cx="132564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Drug Research</a:t>
            </a:r>
            <a:endParaRPr sz="13000"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BADD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</p:sp>
        <p:sp>
          <p:nvSpPr>
            <p:cNvPr id="111" name="Google Shape;111;p14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4"/>
          <p:cNvSpPr/>
          <p:nvPr/>
        </p:nvSpPr>
        <p:spPr>
          <a:xfrm>
            <a:off x="13717858" y="2093503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4"/>
          <p:cNvSpPr/>
          <p:nvPr/>
        </p:nvSpPr>
        <p:spPr>
          <a:xfrm>
            <a:off x="13717845" y="5013671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14"/>
          <p:cNvSpPr txBox="1"/>
          <p:nvPr/>
        </p:nvSpPr>
        <p:spPr>
          <a:xfrm>
            <a:off x="644884" y="7933835"/>
            <a:ext cx="169983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6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History of Drug Prices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0537467" y="1056164"/>
            <a:ext cx="6721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Prescription drugs have been very expensive for years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0537480" y="3199153"/>
            <a:ext cx="67218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Brand drugs are able to consistently raise their prices since they have no competition in their specific market.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537430" y="5942517"/>
            <a:ext cx="67218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Many of the companies researching and producing the drugs wanted to maximize the profits being made.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4">
            <a:alphaModFix/>
          </a:blip>
          <a:srcRect b="4342" l="1929" r="3050" t="1876"/>
          <a:stretch/>
        </p:blipFill>
        <p:spPr>
          <a:xfrm>
            <a:off x="470700" y="1074138"/>
            <a:ext cx="9892549" cy="5951326"/>
          </a:xfrm>
          <a:prstGeom prst="rect">
            <a:avLst/>
          </a:prstGeom>
          <a:noFill/>
          <a:ln cap="flat" cmpd="sng" w="38100">
            <a:solidFill>
              <a:srgbClr val="F4BAD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14"/>
          <p:cNvSpPr txBox="1"/>
          <p:nvPr/>
        </p:nvSpPr>
        <p:spPr>
          <a:xfrm>
            <a:off x="470700" y="7132125"/>
            <a:ext cx="100200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Figure by National Library of Medicine on the average price per unit for top 50 drugs according to US sales</a:t>
            </a:r>
            <a:endParaRPr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3D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5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125" name="Google Shape;125;p15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F4BADD"/>
            </a:solidFill>
            <a:ln>
              <a:noFill/>
            </a:ln>
          </p:spPr>
        </p:sp>
        <p:sp>
          <p:nvSpPr>
            <p:cNvPr id="126" name="Google Shape;126;p15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7" name="Google Shape;127;p15"/>
          <p:cNvCxnSpPr/>
          <p:nvPr/>
        </p:nvCxnSpPr>
        <p:spPr>
          <a:xfrm>
            <a:off x="2366981" y="4703444"/>
            <a:ext cx="13554000" cy="0"/>
          </a:xfrm>
          <a:prstGeom prst="straightConnector1">
            <a:avLst/>
          </a:prstGeom>
          <a:noFill/>
          <a:ln cap="flat" cmpd="sng" w="38100">
            <a:solidFill>
              <a:srgbClr val="063D2A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" name="Google Shape;128;p15"/>
          <p:cNvGrpSpPr/>
          <p:nvPr/>
        </p:nvGrpSpPr>
        <p:grpSpPr>
          <a:xfrm>
            <a:off x="2205338" y="4595681"/>
            <a:ext cx="215555" cy="878162"/>
            <a:chOff x="0" y="0"/>
            <a:chExt cx="287406" cy="1170883"/>
          </a:xfrm>
        </p:grpSpPr>
        <p:grpSp>
          <p:nvGrpSpPr>
            <p:cNvPr id="129" name="Google Shape;129;p15"/>
            <p:cNvGrpSpPr/>
            <p:nvPr/>
          </p:nvGrpSpPr>
          <p:grpSpPr>
            <a:xfrm>
              <a:off x="0" y="0"/>
              <a:ext cx="287406" cy="287406"/>
              <a:chOff x="0" y="0"/>
              <a:chExt cx="812800" cy="812800"/>
            </a:xfrm>
          </p:grpSpPr>
          <p:sp>
            <p:nvSpPr>
              <p:cNvPr id="130" name="Google Shape;130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3D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5"/>
              <p:cNvSpPr txBox="1"/>
              <p:nvPr/>
            </p:nvSpPr>
            <p:spPr>
              <a:xfrm>
                <a:off x="76200" y="95250"/>
                <a:ext cx="660300" cy="6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32" name="Google Shape;132;p15"/>
            <p:cNvCxnSpPr/>
            <p:nvPr/>
          </p:nvCxnSpPr>
          <p:spPr>
            <a:xfrm>
              <a:off x="143683" y="143683"/>
              <a:ext cx="0" cy="1027200"/>
            </a:xfrm>
            <a:prstGeom prst="straightConnector1">
              <a:avLst/>
            </a:prstGeom>
            <a:noFill/>
            <a:ln cap="flat" cmpd="sng" w="50800">
              <a:solidFill>
                <a:srgbClr val="063D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3" name="Google Shape;133;p15"/>
          <p:cNvGrpSpPr/>
          <p:nvPr/>
        </p:nvGrpSpPr>
        <p:grpSpPr>
          <a:xfrm>
            <a:off x="5607317" y="4595681"/>
            <a:ext cx="215555" cy="878162"/>
            <a:chOff x="0" y="0"/>
            <a:chExt cx="287406" cy="1170883"/>
          </a:xfrm>
        </p:grpSpPr>
        <p:grpSp>
          <p:nvGrpSpPr>
            <p:cNvPr id="134" name="Google Shape;134;p15"/>
            <p:cNvGrpSpPr/>
            <p:nvPr/>
          </p:nvGrpSpPr>
          <p:grpSpPr>
            <a:xfrm>
              <a:off x="0" y="0"/>
              <a:ext cx="287406" cy="287406"/>
              <a:chOff x="0" y="0"/>
              <a:chExt cx="812800" cy="812800"/>
            </a:xfrm>
          </p:grpSpPr>
          <p:sp>
            <p:nvSpPr>
              <p:cNvPr id="135" name="Google Shape;135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3D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5"/>
              <p:cNvSpPr txBox="1"/>
              <p:nvPr/>
            </p:nvSpPr>
            <p:spPr>
              <a:xfrm>
                <a:off x="76200" y="95250"/>
                <a:ext cx="660300" cy="6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37" name="Google Shape;137;p15"/>
            <p:cNvCxnSpPr/>
            <p:nvPr/>
          </p:nvCxnSpPr>
          <p:spPr>
            <a:xfrm>
              <a:off x="143683" y="143683"/>
              <a:ext cx="0" cy="1027200"/>
            </a:xfrm>
            <a:prstGeom prst="straightConnector1">
              <a:avLst/>
            </a:prstGeom>
            <a:noFill/>
            <a:ln cap="flat" cmpd="sng" w="50800">
              <a:solidFill>
                <a:srgbClr val="063D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8" name="Google Shape;138;p15"/>
          <p:cNvGrpSpPr/>
          <p:nvPr/>
        </p:nvGrpSpPr>
        <p:grpSpPr>
          <a:xfrm>
            <a:off x="9009297" y="4595681"/>
            <a:ext cx="215555" cy="878162"/>
            <a:chOff x="0" y="0"/>
            <a:chExt cx="287406" cy="1170883"/>
          </a:xfrm>
        </p:grpSpPr>
        <p:grpSp>
          <p:nvGrpSpPr>
            <p:cNvPr id="139" name="Google Shape;139;p15"/>
            <p:cNvGrpSpPr/>
            <p:nvPr/>
          </p:nvGrpSpPr>
          <p:grpSpPr>
            <a:xfrm>
              <a:off x="0" y="0"/>
              <a:ext cx="287406" cy="287406"/>
              <a:chOff x="0" y="0"/>
              <a:chExt cx="812800" cy="812800"/>
            </a:xfrm>
          </p:grpSpPr>
          <p:sp>
            <p:nvSpPr>
              <p:cNvPr id="140" name="Google Shape;140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3D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5"/>
              <p:cNvSpPr txBox="1"/>
              <p:nvPr/>
            </p:nvSpPr>
            <p:spPr>
              <a:xfrm>
                <a:off x="76200" y="95250"/>
                <a:ext cx="660300" cy="6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42" name="Google Shape;142;p15"/>
            <p:cNvCxnSpPr/>
            <p:nvPr/>
          </p:nvCxnSpPr>
          <p:spPr>
            <a:xfrm>
              <a:off x="143683" y="143683"/>
              <a:ext cx="0" cy="1027200"/>
            </a:xfrm>
            <a:prstGeom prst="straightConnector1">
              <a:avLst/>
            </a:prstGeom>
            <a:noFill/>
            <a:ln cap="flat" cmpd="sng" w="50800">
              <a:solidFill>
                <a:srgbClr val="063D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3" name="Google Shape;143;p15"/>
          <p:cNvGrpSpPr/>
          <p:nvPr/>
        </p:nvGrpSpPr>
        <p:grpSpPr>
          <a:xfrm>
            <a:off x="12411277" y="4595681"/>
            <a:ext cx="215555" cy="878162"/>
            <a:chOff x="0" y="0"/>
            <a:chExt cx="287406" cy="1170883"/>
          </a:xfrm>
        </p:grpSpPr>
        <p:grpSp>
          <p:nvGrpSpPr>
            <p:cNvPr id="144" name="Google Shape;144;p15"/>
            <p:cNvGrpSpPr/>
            <p:nvPr/>
          </p:nvGrpSpPr>
          <p:grpSpPr>
            <a:xfrm>
              <a:off x="0" y="0"/>
              <a:ext cx="287406" cy="287406"/>
              <a:chOff x="0" y="0"/>
              <a:chExt cx="812800" cy="812800"/>
            </a:xfrm>
          </p:grpSpPr>
          <p:sp>
            <p:nvSpPr>
              <p:cNvPr id="145" name="Google Shape;145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3D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5"/>
              <p:cNvSpPr txBox="1"/>
              <p:nvPr/>
            </p:nvSpPr>
            <p:spPr>
              <a:xfrm>
                <a:off x="76200" y="95250"/>
                <a:ext cx="660300" cy="6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47" name="Google Shape;147;p15"/>
            <p:cNvCxnSpPr/>
            <p:nvPr/>
          </p:nvCxnSpPr>
          <p:spPr>
            <a:xfrm>
              <a:off x="143683" y="143683"/>
              <a:ext cx="0" cy="1027200"/>
            </a:xfrm>
            <a:prstGeom prst="straightConnector1">
              <a:avLst/>
            </a:prstGeom>
            <a:noFill/>
            <a:ln cap="flat" cmpd="sng" w="50800">
              <a:solidFill>
                <a:srgbClr val="063D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8" name="Google Shape;148;p15"/>
          <p:cNvGrpSpPr/>
          <p:nvPr/>
        </p:nvGrpSpPr>
        <p:grpSpPr>
          <a:xfrm>
            <a:off x="15813256" y="4595681"/>
            <a:ext cx="215555" cy="878162"/>
            <a:chOff x="0" y="0"/>
            <a:chExt cx="287406" cy="1170883"/>
          </a:xfrm>
        </p:grpSpPr>
        <p:grpSp>
          <p:nvGrpSpPr>
            <p:cNvPr id="149" name="Google Shape;149;p15"/>
            <p:cNvGrpSpPr/>
            <p:nvPr/>
          </p:nvGrpSpPr>
          <p:grpSpPr>
            <a:xfrm>
              <a:off x="0" y="0"/>
              <a:ext cx="287406" cy="287406"/>
              <a:chOff x="0" y="0"/>
              <a:chExt cx="812800" cy="812800"/>
            </a:xfrm>
          </p:grpSpPr>
          <p:sp>
            <p:nvSpPr>
              <p:cNvPr id="150" name="Google Shape;150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63D2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5"/>
              <p:cNvSpPr txBox="1"/>
              <p:nvPr/>
            </p:nvSpPr>
            <p:spPr>
              <a:xfrm>
                <a:off x="76200" y="95250"/>
                <a:ext cx="660300" cy="6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52" name="Google Shape;152;p15"/>
            <p:cNvCxnSpPr/>
            <p:nvPr/>
          </p:nvCxnSpPr>
          <p:spPr>
            <a:xfrm>
              <a:off x="143683" y="143683"/>
              <a:ext cx="0" cy="1027200"/>
            </a:xfrm>
            <a:prstGeom prst="straightConnector1">
              <a:avLst/>
            </a:prstGeom>
            <a:noFill/>
            <a:ln cap="flat" cmpd="sng" w="50800">
              <a:solidFill>
                <a:srgbClr val="063D2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3" name="Google Shape;153;p15"/>
          <p:cNvGrpSpPr/>
          <p:nvPr/>
        </p:nvGrpSpPr>
        <p:grpSpPr>
          <a:xfrm>
            <a:off x="1030767" y="5368951"/>
            <a:ext cx="2564666" cy="904551"/>
            <a:chOff x="0" y="0"/>
            <a:chExt cx="3419554" cy="1206068"/>
          </a:xfrm>
        </p:grpSpPr>
        <p:sp>
          <p:nvSpPr>
            <p:cNvPr id="154" name="Google Shape;154;p15"/>
            <p:cNvSpPr/>
            <p:nvPr/>
          </p:nvSpPr>
          <p:spPr>
            <a:xfrm>
              <a:off x="1020334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1" y="0"/>
                  </a:lnTo>
                  <a:lnTo>
                    <a:pt x="2399221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5" name="Google Shape;155;p15"/>
            <p:cNvSpPr/>
            <p:nvPr/>
          </p:nvSpPr>
          <p:spPr>
            <a:xfrm>
              <a:off x="0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0" y="0"/>
                  </a:lnTo>
                  <a:lnTo>
                    <a:pt x="2399220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56" name="Google Shape;156;p15"/>
          <p:cNvGrpSpPr/>
          <p:nvPr/>
        </p:nvGrpSpPr>
        <p:grpSpPr>
          <a:xfrm>
            <a:off x="4432747" y="5368951"/>
            <a:ext cx="2564666" cy="904551"/>
            <a:chOff x="0" y="0"/>
            <a:chExt cx="3419554" cy="1206068"/>
          </a:xfrm>
        </p:grpSpPr>
        <p:sp>
          <p:nvSpPr>
            <p:cNvPr id="157" name="Google Shape;157;p15"/>
            <p:cNvSpPr/>
            <p:nvPr/>
          </p:nvSpPr>
          <p:spPr>
            <a:xfrm>
              <a:off x="1020334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1" y="0"/>
                  </a:lnTo>
                  <a:lnTo>
                    <a:pt x="2399221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8" name="Google Shape;158;p15"/>
            <p:cNvSpPr/>
            <p:nvPr/>
          </p:nvSpPr>
          <p:spPr>
            <a:xfrm>
              <a:off x="0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0" y="0"/>
                  </a:lnTo>
                  <a:lnTo>
                    <a:pt x="2399220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59" name="Google Shape;159;p15"/>
          <p:cNvGrpSpPr/>
          <p:nvPr/>
        </p:nvGrpSpPr>
        <p:grpSpPr>
          <a:xfrm>
            <a:off x="7834726" y="5368951"/>
            <a:ext cx="2564666" cy="904551"/>
            <a:chOff x="0" y="0"/>
            <a:chExt cx="3419554" cy="1206068"/>
          </a:xfrm>
        </p:grpSpPr>
        <p:sp>
          <p:nvSpPr>
            <p:cNvPr id="160" name="Google Shape;160;p15"/>
            <p:cNvSpPr/>
            <p:nvPr/>
          </p:nvSpPr>
          <p:spPr>
            <a:xfrm>
              <a:off x="1020334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1" y="0"/>
                  </a:lnTo>
                  <a:lnTo>
                    <a:pt x="2399221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p15"/>
            <p:cNvSpPr/>
            <p:nvPr/>
          </p:nvSpPr>
          <p:spPr>
            <a:xfrm>
              <a:off x="0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0" y="0"/>
                  </a:lnTo>
                  <a:lnTo>
                    <a:pt x="2399220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62" name="Google Shape;162;p15"/>
          <p:cNvGrpSpPr/>
          <p:nvPr/>
        </p:nvGrpSpPr>
        <p:grpSpPr>
          <a:xfrm>
            <a:off x="11236706" y="5368951"/>
            <a:ext cx="2564666" cy="904551"/>
            <a:chOff x="0" y="0"/>
            <a:chExt cx="3419554" cy="1206068"/>
          </a:xfrm>
        </p:grpSpPr>
        <p:sp>
          <p:nvSpPr>
            <p:cNvPr id="163" name="Google Shape;163;p15"/>
            <p:cNvSpPr/>
            <p:nvPr/>
          </p:nvSpPr>
          <p:spPr>
            <a:xfrm>
              <a:off x="1020334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1" y="0"/>
                  </a:lnTo>
                  <a:lnTo>
                    <a:pt x="2399221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4" name="Google Shape;164;p15"/>
            <p:cNvSpPr/>
            <p:nvPr/>
          </p:nvSpPr>
          <p:spPr>
            <a:xfrm>
              <a:off x="0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0" y="0"/>
                  </a:lnTo>
                  <a:lnTo>
                    <a:pt x="2399220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65" name="Google Shape;165;p15"/>
          <p:cNvGrpSpPr/>
          <p:nvPr/>
        </p:nvGrpSpPr>
        <p:grpSpPr>
          <a:xfrm>
            <a:off x="14638686" y="5368951"/>
            <a:ext cx="2564666" cy="904551"/>
            <a:chOff x="0" y="0"/>
            <a:chExt cx="3419554" cy="1206068"/>
          </a:xfrm>
        </p:grpSpPr>
        <p:sp>
          <p:nvSpPr>
            <p:cNvPr id="166" name="Google Shape;166;p15"/>
            <p:cNvSpPr/>
            <p:nvPr/>
          </p:nvSpPr>
          <p:spPr>
            <a:xfrm>
              <a:off x="1020334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1" y="0"/>
                  </a:lnTo>
                  <a:lnTo>
                    <a:pt x="2399221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p15"/>
            <p:cNvSpPr/>
            <p:nvPr/>
          </p:nvSpPr>
          <p:spPr>
            <a:xfrm>
              <a:off x="0" y="0"/>
              <a:ext cx="2399220" cy="1206068"/>
            </a:xfrm>
            <a:custGeom>
              <a:rect b="b" l="l" r="r" t="t"/>
              <a:pathLst>
                <a:path extrusionOk="0" h="1206068" w="2399220">
                  <a:moveTo>
                    <a:pt x="0" y="0"/>
                  </a:moveTo>
                  <a:lnTo>
                    <a:pt x="2399220" y="0"/>
                  </a:lnTo>
                  <a:lnTo>
                    <a:pt x="2399220" y="1206068"/>
                  </a:lnTo>
                  <a:lnTo>
                    <a:pt x="0" y="120606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8" name="Google Shape;168;p15"/>
          <p:cNvSpPr txBox="1"/>
          <p:nvPr/>
        </p:nvSpPr>
        <p:spPr>
          <a:xfrm>
            <a:off x="2040407" y="842840"/>
            <a:ext cx="14207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Why are costs so high?</a:t>
            </a:r>
            <a:endParaRPr sz="100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235674" y="9743600"/>
            <a:ext cx="632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Harvard article by Robert H. Shmerling, MD</a:t>
            </a:r>
            <a:endParaRPr sz="20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030767" y="6530352"/>
            <a:ext cx="2564700" cy="22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“in Europe…the very same drugs made by the same companies for the same health problems </a:t>
            </a:r>
            <a:r>
              <a:rPr b="1"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typically cost far less than in the US</a:t>
            </a:r>
            <a:r>
              <a:rPr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.”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4231425" y="6530350"/>
            <a:ext cx="3023700" cy="22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Pharmacy benefit managers negotiate the prices of drugs for health insurers and pharmacies.</a:t>
            </a:r>
            <a:endParaRPr sz="1916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Higher PBM fees means higher prices.</a:t>
            </a:r>
            <a:endParaRPr b="1" sz="1916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7834726" y="6530352"/>
            <a:ext cx="25647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Higher copays, deductibles, and premiums from insurers lead to higher prices for consumers.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10979025" y="6530350"/>
            <a:ext cx="31155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Drug makers will file multiple patents to keep hold of a drug as well as create similar drugs to patent it as a new creation.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14638686" y="6530352"/>
            <a:ext cx="25647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16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Lots of money will be spent on ads, as well as the want for newer drugs that can be advertised.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1553891" y="5608146"/>
            <a:ext cx="151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Profits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4865532" y="5608146"/>
            <a:ext cx="1699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PBMs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7834725" y="5608150"/>
            <a:ext cx="251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Cost-sharing</a:t>
            </a:r>
            <a:endParaRPr sz="33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11236700" y="5293025"/>
            <a:ext cx="2515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Legal maneuvers</a:t>
            </a:r>
            <a:endParaRPr sz="33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14638675" y="5608150"/>
            <a:ext cx="251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Advertising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3D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6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</p:sp>
        <p:sp>
          <p:nvSpPr>
            <p:cNvPr id="186" name="Google Shape;186;p16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6"/>
          <p:cNvSpPr/>
          <p:nvPr/>
        </p:nvSpPr>
        <p:spPr>
          <a:xfrm>
            <a:off x="613714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9" y="0"/>
                </a:lnTo>
                <a:lnTo>
                  <a:pt x="5461829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/>
          <p:nvPr/>
        </p:nvSpPr>
        <p:spPr>
          <a:xfrm>
            <a:off x="6413086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8" y="0"/>
                </a:lnTo>
                <a:lnTo>
                  <a:pt x="5461828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6"/>
          <p:cNvSpPr/>
          <p:nvPr/>
        </p:nvSpPr>
        <p:spPr>
          <a:xfrm>
            <a:off x="12071938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9" y="0"/>
                </a:lnTo>
                <a:lnTo>
                  <a:pt x="5461829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6"/>
          <p:cNvSpPr/>
          <p:nvPr/>
        </p:nvSpPr>
        <p:spPr>
          <a:xfrm>
            <a:off x="795729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799" y="0"/>
                </a:lnTo>
                <a:lnTo>
                  <a:pt x="5097799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191" name="Google Shape;191;p16"/>
          <p:cNvSpPr/>
          <p:nvPr/>
        </p:nvSpPr>
        <p:spPr>
          <a:xfrm>
            <a:off x="6595100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800" y="0"/>
                </a:lnTo>
                <a:lnTo>
                  <a:pt x="5097800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192" name="Google Shape;192;p16"/>
          <p:cNvSpPr/>
          <p:nvPr/>
        </p:nvSpPr>
        <p:spPr>
          <a:xfrm>
            <a:off x="12253953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799" y="0"/>
                </a:lnTo>
                <a:lnTo>
                  <a:pt x="5097799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193" name="Google Shape;193;p16"/>
          <p:cNvSpPr txBox="1"/>
          <p:nvPr/>
        </p:nvSpPr>
        <p:spPr>
          <a:xfrm>
            <a:off x="2040407" y="432683"/>
            <a:ext cx="14207100" cy="3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13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Why is this important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934725" y="7269100"/>
            <a:ext cx="47898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The average American can’t afford high priced prescription drugs  when the cost of living has gone up and will continue to increase.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7334287" y="7269105"/>
            <a:ext cx="36195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Generic medicines are much cheaper than brand-name medicines, yet they can sometimes come with risks. 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2993108" y="7269105"/>
            <a:ext cx="36195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For some people, they need certain drugs to be able to survive, such as those with diabetes who take insulin.</a:t>
            </a:r>
            <a:endParaRPr/>
          </a:p>
        </p:txBody>
      </p:sp>
      <p:pic>
        <p:nvPicPr>
          <p:cNvPr id="197" name="Google Shape;19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788" y="5175932"/>
            <a:ext cx="1725925" cy="16899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/>
          <p:nvPr/>
        </p:nvSpPr>
        <p:spPr>
          <a:xfrm>
            <a:off x="2040400" y="5022500"/>
            <a:ext cx="2212673" cy="1690825"/>
          </a:xfrm>
          <a:custGeom>
            <a:rect b="b" l="l" r="r" t="t"/>
            <a:pathLst>
              <a:path extrusionOk="0" h="1050202" w="1286438">
                <a:moveTo>
                  <a:pt x="0" y="0"/>
                </a:moveTo>
                <a:lnTo>
                  <a:pt x="1286438" y="0"/>
                </a:lnTo>
                <a:lnTo>
                  <a:pt x="1286438" y="1050202"/>
                </a:lnTo>
                <a:lnTo>
                  <a:pt x="0" y="1050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>
            <a:off x="13879230" y="5022700"/>
            <a:ext cx="1847255" cy="1690419"/>
          </a:xfrm>
          <a:custGeom>
            <a:rect b="b" l="l" r="r" t="t"/>
            <a:pathLst>
              <a:path extrusionOk="0" h="1207442" w="1312437">
                <a:moveTo>
                  <a:pt x="0" y="0"/>
                </a:moveTo>
                <a:lnTo>
                  <a:pt x="1312436" y="0"/>
                </a:lnTo>
                <a:lnTo>
                  <a:pt x="1312436" y="1207442"/>
                </a:lnTo>
                <a:lnTo>
                  <a:pt x="0" y="1207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3D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7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</p:sp>
        <p:sp>
          <p:nvSpPr>
            <p:cNvPr id="206" name="Google Shape;206;p17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7"/>
          <p:cNvSpPr/>
          <p:nvPr/>
        </p:nvSpPr>
        <p:spPr>
          <a:xfrm>
            <a:off x="613714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9" y="0"/>
                </a:lnTo>
                <a:lnTo>
                  <a:pt x="5461829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7"/>
          <p:cNvSpPr/>
          <p:nvPr/>
        </p:nvSpPr>
        <p:spPr>
          <a:xfrm>
            <a:off x="6413086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8" y="0"/>
                </a:lnTo>
                <a:lnTo>
                  <a:pt x="5461828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7"/>
          <p:cNvSpPr/>
          <p:nvPr/>
        </p:nvSpPr>
        <p:spPr>
          <a:xfrm>
            <a:off x="12071938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9" y="0"/>
                </a:lnTo>
                <a:lnTo>
                  <a:pt x="5461829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7"/>
          <p:cNvSpPr/>
          <p:nvPr/>
        </p:nvSpPr>
        <p:spPr>
          <a:xfrm>
            <a:off x="795729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799" y="0"/>
                </a:lnTo>
                <a:lnTo>
                  <a:pt x="5097799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211" name="Google Shape;211;p17"/>
          <p:cNvSpPr/>
          <p:nvPr/>
        </p:nvSpPr>
        <p:spPr>
          <a:xfrm>
            <a:off x="6595100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800" y="0"/>
                </a:lnTo>
                <a:lnTo>
                  <a:pt x="5097800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212" name="Google Shape;212;p17"/>
          <p:cNvSpPr/>
          <p:nvPr/>
        </p:nvSpPr>
        <p:spPr>
          <a:xfrm>
            <a:off x="12253953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799" y="0"/>
                </a:lnTo>
                <a:lnTo>
                  <a:pt x="5097799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213" name="Google Shape;213;p17"/>
          <p:cNvSpPr txBox="1"/>
          <p:nvPr/>
        </p:nvSpPr>
        <p:spPr>
          <a:xfrm>
            <a:off x="2040407" y="432683"/>
            <a:ext cx="14207100" cy="3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13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Why change is important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934725" y="7269100"/>
            <a:ext cx="47898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Being able to use AI to help with drug development will allow for medicine to be purchased at a much lower price while still keeping the high quality.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7334287" y="7269105"/>
            <a:ext cx="36195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Being able to make healthcare as affordable as possible should be the goal.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2993108" y="7269105"/>
            <a:ext cx="36195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The lower development costs can lead to lower prices as customers won’t need to be overcharged to.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13879230" y="5022700"/>
            <a:ext cx="1847255" cy="1690419"/>
          </a:xfrm>
          <a:custGeom>
            <a:rect b="b" l="l" r="r" t="t"/>
            <a:pathLst>
              <a:path extrusionOk="0" h="1207442" w="1312437">
                <a:moveTo>
                  <a:pt x="0" y="0"/>
                </a:moveTo>
                <a:lnTo>
                  <a:pt x="1312436" y="0"/>
                </a:lnTo>
                <a:lnTo>
                  <a:pt x="1312436" y="1207442"/>
                </a:lnTo>
                <a:lnTo>
                  <a:pt x="0" y="1207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7"/>
          <p:cNvSpPr/>
          <p:nvPr/>
        </p:nvSpPr>
        <p:spPr>
          <a:xfrm>
            <a:off x="2647401" y="5022700"/>
            <a:ext cx="1254642" cy="1844368"/>
          </a:xfrm>
          <a:custGeom>
            <a:rect b="b" l="l" r="r" t="t"/>
            <a:pathLst>
              <a:path extrusionOk="0" h="1207442" w="836428">
                <a:moveTo>
                  <a:pt x="0" y="0"/>
                </a:moveTo>
                <a:lnTo>
                  <a:pt x="836427" y="0"/>
                </a:lnTo>
                <a:lnTo>
                  <a:pt x="836427" y="1207442"/>
                </a:lnTo>
                <a:lnTo>
                  <a:pt x="0" y="1207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7"/>
          <p:cNvSpPr/>
          <p:nvPr/>
        </p:nvSpPr>
        <p:spPr>
          <a:xfrm>
            <a:off x="8204650" y="5099675"/>
            <a:ext cx="1920225" cy="1536470"/>
          </a:xfrm>
          <a:custGeom>
            <a:rect b="b" l="l" r="r" t="t"/>
            <a:pathLst>
              <a:path extrusionOk="0" h="1207442" w="1485667">
                <a:moveTo>
                  <a:pt x="0" y="0"/>
                </a:moveTo>
                <a:lnTo>
                  <a:pt x="1485666" y="0"/>
                </a:lnTo>
                <a:lnTo>
                  <a:pt x="1485666" y="1207442"/>
                </a:lnTo>
                <a:lnTo>
                  <a:pt x="0" y="1207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BADD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8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</p:sp>
        <p:sp>
          <p:nvSpPr>
            <p:cNvPr id="226" name="Google Shape;226;p18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8"/>
          <p:cNvSpPr/>
          <p:nvPr/>
        </p:nvSpPr>
        <p:spPr>
          <a:xfrm>
            <a:off x="14420558" y="2707166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8"/>
          <p:cNvSpPr/>
          <p:nvPr/>
        </p:nvSpPr>
        <p:spPr>
          <a:xfrm>
            <a:off x="14420558" y="5013671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8"/>
          <p:cNvSpPr txBox="1"/>
          <p:nvPr/>
        </p:nvSpPr>
        <p:spPr>
          <a:xfrm>
            <a:off x="644884" y="7933835"/>
            <a:ext cx="169983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6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CADD &amp; AIDD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1240180" y="1499264"/>
            <a:ext cx="6721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CADD: Computer-Aided Drug Design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AIDD: </a:t>
            </a: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Artificial</a:t>
            </a: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Intelligence Drug Discovery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1331200" y="3723175"/>
            <a:ext cx="67218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CADD uses computer algorithms to predict how a drug molecule will interact with its target.</a:t>
            </a:r>
            <a:endParaRPr sz="25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11240180" y="5991967"/>
            <a:ext cx="6721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AIDD uses “large data sets from existing public or proprietary data repositories.”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388750" y="6653625"/>
            <a:ext cx="11143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(A) General workflow of CADD. (B) Molecular generation by deep learning architecture. (C) Examples (non-exhaustive) in the evolution of AI companies in the past decade.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50" y="1234776"/>
            <a:ext cx="10819250" cy="5275550"/>
          </a:xfrm>
          <a:prstGeom prst="rect">
            <a:avLst/>
          </a:prstGeom>
          <a:noFill/>
          <a:ln cap="flat" cmpd="sng" w="38100">
            <a:solidFill>
              <a:srgbClr val="F4BAD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18"/>
          <p:cNvSpPr txBox="1"/>
          <p:nvPr/>
        </p:nvSpPr>
        <p:spPr>
          <a:xfrm>
            <a:off x="0" y="9468300"/>
            <a:ext cx="54141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Article about small molecule drug discovery</a:t>
            </a:r>
            <a:endParaRPr b="1" sz="2000">
              <a:solidFill>
                <a:srgbClr val="F4BADD"/>
              </a:solidFill>
              <a:latin typeface="Poiret One"/>
              <a:ea typeface="Poiret One"/>
              <a:cs typeface="Poiret One"/>
              <a:sym typeface="Poiret One"/>
            </a:endParaRPr>
          </a:p>
          <a:p>
            <a:pPr indent="0" lvl="0" marL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4BADD"/>
              </a:solidFill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BAD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9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241" name="Google Shape;241;p19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</p:sp>
        <p:sp>
          <p:nvSpPr>
            <p:cNvPr id="242" name="Google Shape;242;p19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9"/>
          <p:cNvSpPr/>
          <p:nvPr/>
        </p:nvSpPr>
        <p:spPr>
          <a:xfrm>
            <a:off x="14420558" y="2384066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9"/>
          <p:cNvSpPr/>
          <p:nvPr/>
        </p:nvSpPr>
        <p:spPr>
          <a:xfrm>
            <a:off x="14420558" y="5013671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9"/>
          <p:cNvSpPr txBox="1"/>
          <p:nvPr/>
        </p:nvSpPr>
        <p:spPr>
          <a:xfrm>
            <a:off x="644884" y="7933835"/>
            <a:ext cx="169983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6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CADD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11240180" y="1378964"/>
            <a:ext cx="6721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Labeled as a binary </a:t>
            </a: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encoding</a:t>
            </a: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method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11240180" y="3698466"/>
            <a:ext cx="6721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Not mutated = 0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Mutated = </a:t>
            </a: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11240180" y="5991967"/>
            <a:ext cx="67218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CADD is able to do this  and create mutation-specific QMS values for different mutation types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235675" y="6510325"/>
            <a:ext cx="10888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“...each gene is assigned either a 0 or 1 based on the absence or presence of non-synonymous coding mutations (Fig. 1b). Combining mutation values across genes creates a genomic profile of a tumor, which multi-gene models use to predict tumor behaviors.”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126" y="594049"/>
            <a:ext cx="8719900" cy="56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BADD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0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256" name="Google Shape;256;p20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</p:sp>
        <p:sp>
          <p:nvSpPr>
            <p:cNvPr id="257" name="Google Shape;257;p20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20"/>
          <p:cNvSpPr/>
          <p:nvPr/>
        </p:nvSpPr>
        <p:spPr>
          <a:xfrm>
            <a:off x="14420558" y="2707166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20"/>
          <p:cNvSpPr/>
          <p:nvPr/>
        </p:nvSpPr>
        <p:spPr>
          <a:xfrm>
            <a:off x="14420558" y="5013671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20"/>
          <p:cNvSpPr txBox="1"/>
          <p:nvPr/>
        </p:nvSpPr>
        <p:spPr>
          <a:xfrm>
            <a:off x="644884" y="7933835"/>
            <a:ext cx="169983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6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CADD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11240180" y="901214"/>
            <a:ext cx="67218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QMS- Quantitative Mutation Scoring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Uses AI through machine learning and gene mutation prediction</a:t>
            </a:r>
            <a:endParaRPr sz="265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11240180" y="3698466"/>
            <a:ext cx="6721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study was specifically for predicting cancer drug responses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11240180" y="5991967"/>
            <a:ext cx="67218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“...multiple mutation scores can be combined to create a multi-dimensional representation of gene mutations…”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235675" y="6510325"/>
            <a:ext cx="11296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“By analogy, if binary gene mutation states (0/1) are akin to a black-and-white photograph (Fig. 1e, left), moving to QMS reveals a more nuanced grayscale image (Fig. 1e, middle), while combining continuous values across multiple dimensions yields a fullcolor picture (Fig. 1e, right).”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125" y="757599"/>
            <a:ext cx="9120725" cy="5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BADD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1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</p:sp>
        <p:sp>
          <p:nvSpPr>
            <p:cNvPr id="272" name="Google Shape;272;p21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21"/>
          <p:cNvSpPr/>
          <p:nvPr/>
        </p:nvSpPr>
        <p:spPr>
          <a:xfrm>
            <a:off x="13717858" y="2307978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21"/>
          <p:cNvSpPr/>
          <p:nvPr/>
        </p:nvSpPr>
        <p:spPr>
          <a:xfrm>
            <a:off x="13717845" y="5013671"/>
            <a:ext cx="361039" cy="718212"/>
          </a:xfrm>
          <a:custGeom>
            <a:rect b="b" l="l" r="r" t="t"/>
            <a:pathLst>
              <a:path extrusionOk="0" h="718212" w="361039">
                <a:moveTo>
                  <a:pt x="0" y="0"/>
                </a:moveTo>
                <a:lnTo>
                  <a:pt x="361039" y="0"/>
                </a:lnTo>
                <a:lnTo>
                  <a:pt x="361039" y="718212"/>
                </a:lnTo>
                <a:lnTo>
                  <a:pt x="0" y="7182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21"/>
          <p:cNvSpPr txBox="1"/>
          <p:nvPr/>
        </p:nvSpPr>
        <p:spPr>
          <a:xfrm>
            <a:off x="644884" y="7933835"/>
            <a:ext cx="16998300" cy="1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46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INS018_055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10272050" y="840725"/>
            <a:ext cx="76404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One of the first AI-generated drug candidate made for treating idiopathic pulmonary fibrosis(IPF)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10272050" y="3169288"/>
            <a:ext cx="77004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Completed in 18 months from the initial target discovery to the preclinical candidate nomination. Results so far show it is safe and well tolerated.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0272050" y="5942525"/>
            <a:ext cx="7700400" cy="17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“exhibits desirable drug-like properties and anti-fibrotic activity across different organs in vivo through oral, inhaled or topical administration”</a:t>
            </a:r>
            <a:endParaRPr/>
          </a:p>
        </p:txBody>
      </p:sp>
      <p:pic>
        <p:nvPicPr>
          <p:cNvPr id="279" name="Google Shape;27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550" y="523150"/>
            <a:ext cx="6262925" cy="6262925"/>
          </a:xfrm>
          <a:prstGeom prst="rect">
            <a:avLst/>
          </a:prstGeom>
          <a:noFill/>
          <a:ln cap="flat" cmpd="sng" w="38100">
            <a:solidFill>
              <a:srgbClr val="F4BAD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0" name="Google Shape;280;p21"/>
          <p:cNvSpPr txBox="1"/>
          <p:nvPr/>
        </p:nvSpPr>
        <p:spPr>
          <a:xfrm>
            <a:off x="764550" y="6781925"/>
            <a:ext cx="6993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small-molecule TNIK(TRAF2- and NCK-interacting kinase) inhibitor developed by Insilico Medicine.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3D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22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286" name="Google Shape;286;p22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</p:sp>
        <p:sp>
          <p:nvSpPr>
            <p:cNvPr id="287" name="Google Shape;287;p22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22"/>
          <p:cNvSpPr/>
          <p:nvPr/>
        </p:nvSpPr>
        <p:spPr>
          <a:xfrm>
            <a:off x="613714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9" y="0"/>
                </a:lnTo>
                <a:lnTo>
                  <a:pt x="5461829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22"/>
          <p:cNvSpPr/>
          <p:nvPr/>
        </p:nvSpPr>
        <p:spPr>
          <a:xfrm>
            <a:off x="6413086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8" y="0"/>
                </a:lnTo>
                <a:lnTo>
                  <a:pt x="5461828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" name="Google Shape;290;p22"/>
          <p:cNvSpPr/>
          <p:nvPr/>
        </p:nvSpPr>
        <p:spPr>
          <a:xfrm>
            <a:off x="12071938" y="4174874"/>
            <a:ext cx="5461829" cy="10865164"/>
          </a:xfrm>
          <a:custGeom>
            <a:rect b="b" l="l" r="r" t="t"/>
            <a:pathLst>
              <a:path extrusionOk="0" h="10865164" w="5461829">
                <a:moveTo>
                  <a:pt x="0" y="0"/>
                </a:moveTo>
                <a:lnTo>
                  <a:pt x="5461829" y="0"/>
                </a:lnTo>
                <a:lnTo>
                  <a:pt x="5461829" y="10865165"/>
                </a:lnTo>
                <a:lnTo>
                  <a:pt x="0" y="10865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22"/>
          <p:cNvSpPr/>
          <p:nvPr/>
        </p:nvSpPr>
        <p:spPr>
          <a:xfrm>
            <a:off x="795729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799" y="0"/>
                </a:lnTo>
                <a:lnTo>
                  <a:pt x="5097799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292" name="Google Shape;292;p22"/>
          <p:cNvSpPr/>
          <p:nvPr/>
        </p:nvSpPr>
        <p:spPr>
          <a:xfrm>
            <a:off x="6595100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800" y="0"/>
                </a:lnTo>
                <a:lnTo>
                  <a:pt x="5097800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293" name="Google Shape;293;p22"/>
          <p:cNvSpPr/>
          <p:nvPr/>
        </p:nvSpPr>
        <p:spPr>
          <a:xfrm>
            <a:off x="12253953" y="4398542"/>
            <a:ext cx="5097799" cy="5701851"/>
          </a:xfrm>
          <a:custGeom>
            <a:rect b="b" l="l" r="r" t="t"/>
            <a:pathLst>
              <a:path extrusionOk="0" h="5701851" w="5097799">
                <a:moveTo>
                  <a:pt x="0" y="0"/>
                </a:moveTo>
                <a:lnTo>
                  <a:pt x="5097799" y="0"/>
                </a:lnTo>
                <a:lnTo>
                  <a:pt x="5097799" y="5701852"/>
                </a:lnTo>
                <a:lnTo>
                  <a:pt x="0" y="5701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7850" l="0" r="0" t="0"/>
            </a:stretch>
          </a:blipFill>
          <a:ln>
            <a:noFill/>
          </a:ln>
        </p:spPr>
      </p:sp>
      <p:sp>
        <p:nvSpPr>
          <p:cNvPr id="294" name="Google Shape;294;p22"/>
          <p:cNvSpPr txBox="1"/>
          <p:nvPr/>
        </p:nvSpPr>
        <p:spPr>
          <a:xfrm>
            <a:off x="2040407" y="432683"/>
            <a:ext cx="14207100" cy="18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213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My Thoughts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1534916" y="7269105"/>
            <a:ext cx="36195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Lower prices for essential drugs should be the goal. Healthcare should be affordable, or even free.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7334287" y="7269105"/>
            <a:ext cx="36195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Generic drugs don’t work for everyone, it shouldn’t be the next best option because of price.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13133658" y="7269105"/>
            <a:ext cx="36195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DEDEDE"/>
                </a:solidFill>
                <a:latin typeface="Lato"/>
                <a:ea typeface="Lato"/>
                <a:cs typeface="Lato"/>
                <a:sym typeface="Lato"/>
              </a:rPr>
              <a:t>AI should be used for benefiting humanity. This is a great opportunity to do so.</a:t>
            </a:r>
            <a:endParaRPr/>
          </a:p>
        </p:txBody>
      </p:sp>
      <p:pic>
        <p:nvPicPr>
          <p:cNvPr id="298" name="Google Shape;2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1788" y="5175932"/>
            <a:ext cx="1725925" cy="168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2"/>
          <p:cNvSpPr/>
          <p:nvPr/>
        </p:nvSpPr>
        <p:spPr>
          <a:xfrm>
            <a:off x="2590500" y="4977500"/>
            <a:ext cx="1508248" cy="1780837"/>
          </a:xfrm>
          <a:custGeom>
            <a:rect b="b" l="l" r="r" t="t"/>
            <a:pathLst>
              <a:path extrusionOk="0" h="1128898" w="911328">
                <a:moveTo>
                  <a:pt x="0" y="0"/>
                </a:moveTo>
                <a:lnTo>
                  <a:pt x="911328" y="0"/>
                </a:lnTo>
                <a:lnTo>
                  <a:pt x="911328" y="1128898"/>
                </a:lnTo>
                <a:lnTo>
                  <a:pt x="0" y="1128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0" name="Google Shape;300;p22"/>
          <p:cNvSpPr/>
          <p:nvPr/>
        </p:nvSpPr>
        <p:spPr>
          <a:xfrm>
            <a:off x="13804257" y="5073698"/>
            <a:ext cx="1997195" cy="1588431"/>
          </a:xfrm>
          <a:custGeom>
            <a:rect b="b" l="l" r="r" t="t"/>
            <a:pathLst>
              <a:path extrusionOk="0" h="1050202" w="1286438">
                <a:moveTo>
                  <a:pt x="0" y="0"/>
                </a:moveTo>
                <a:lnTo>
                  <a:pt x="1286438" y="0"/>
                </a:lnTo>
                <a:lnTo>
                  <a:pt x="1286438" y="1050202"/>
                </a:lnTo>
                <a:lnTo>
                  <a:pt x="0" y="1050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BADD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3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063D2A"/>
            </a:solidFill>
            <a:ln>
              <a:noFill/>
            </a:ln>
          </p:spPr>
        </p:sp>
        <p:sp>
          <p:nvSpPr>
            <p:cNvPr id="307" name="Google Shape;307;p23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23"/>
          <p:cNvSpPr txBox="1"/>
          <p:nvPr/>
        </p:nvSpPr>
        <p:spPr>
          <a:xfrm>
            <a:off x="4072742" y="3184528"/>
            <a:ext cx="10142400" cy="39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99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Discussion Questions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7200604" y="1309413"/>
            <a:ext cx="1359729" cy="2428088"/>
          </a:xfrm>
          <a:custGeom>
            <a:rect b="b" l="l" r="r" t="t"/>
            <a:pathLst>
              <a:path extrusionOk="0" h="2428088" w="1359729">
                <a:moveTo>
                  <a:pt x="0" y="0"/>
                </a:moveTo>
                <a:lnTo>
                  <a:pt x="1359729" y="0"/>
                </a:lnTo>
                <a:lnTo>
                  <a:pt x="1359729" y="2428088"/>
                </a:lnTo>
                <a:lnTo>
                  <a:pt x="0" y="2428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23"/>
          <p:cNvSpPr/>
          <p:nvPr/>
        </p:nvSpPr>
        <p:spPr>
          <a:xfrm rot="-1073513">
            <a:off x="9052525" y="6592863"/>
            <a:ext cx="2131052" cy="2738500"/>
          </a:xfrm>
          <a:custGeom>
            <a:rect b="b" l="l" r="r" t="t"/>
            <a:pathLst>
              <a:path extrusionOk="0" h="2736022" w="2129123">
                <a:moveTo>
                  <a:pt x="0" y="0"/>
                </a:moveTo>
                <a:lnTo>
                  <a:pt x="2129123" y="0"/>
                </a:lnTo>
                <a:lnTo>
                  <a:pt x="2129123" y="2736022"/>
                </a:lnTo>
                <a:lnTo>
                  <a:pt x="0" y="27360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23"/>
          <p:cNvSpPr/>
          <p:nvPr/>
        </p:nvSpPr>
        <p:spPr>
          <a:xfrm flipH="1" rot="7996595">
            <a:off x="2785271" y="4931868"/>
            <a:ext cx="3697169" cy="1823685"/>
          </a:xfrm>
          <a:custGeom>
            <a:rect b="b" l="l" r="r" t="t"/>
            <a:pathLst>
              <a:path extrusionOk="0" h="1825071" w="3699980">
                <a:moveTo>
                  <a:pt x="3699979" y="0"/>
                </a:moveTo>
                <a:lnTo>
                  <a:pt x="0" y="0"/>
                </a:lnTo>
                <a:lnTo>
                  <a:pt x="0" y="1825071"/>
                </a:lnTo>
                <a:lnTo>
                  <a:pt x="3699979" y="1825071"/>
                </a:lnTo>
                <a:lnTo>
                  <a:pt x="3699979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9390" t="0"/>
            </a:stretch>
          </a:blipFill>
          <a:ln>
            <a:noFill/>
          </a:ln>
        </p:spPr>
      </p:sp>
      <p:sp>
        <p:nvSpPr>
          <p:cNvPr id="312" name="Google Shape;312;p23"/>
          <p:cNvSpPr/>
          <p:nvPr/>
        </p:nvSpPr>
        <p:spPr>
          <a:xfrm flipH="1" rot="-2310192">
            <a:off x="12489464" y="3893525"/>
            <a:ext cx="3119787" cy="1538883"/>
          </a:xfrm>
          <a:custGeom>
            <a:rect b="b" l="l" r="r" t="t"/>
            <a:pathLst>
              <a:path extrusionOk="0" h="1539027" w="3120080">
                <a:moveTo>
                  <a:pt x="3120080" y="0"/>
                </a:moveTo>
                <a:lnTo>
                  <a:pt x="0" y="0"/>
                </a:lnTo>
                <a:lnTo>
                  <a:pt x="0" y="1539026"/>
                </a:lnTo>
                <a:lnTo>
                  <a:pt x="3120080" y="1539026"/>
                </a:lnTo>
                <a:lnTo>
                  <a:pt x="312008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9390" t="0"/>
            </a:stretch>
          </a:blipFill>
          <a:ln>
            <a:noFill/>
          </a:ln>
        </p:spPr>
      </p:sp>
      <p:sp>
        <p:nvSpPr>
          <p:cNvPr id="313" name="Google Shape;313;p23"/>
          <p:cNvSpPr txBox="1"/>
          <p:nvPr/>
        </p:nvSpPr>
        <p:spPr>
          <a:xfrm>
            <a:off x="3713822" y="1463324"/>
            <a:ext cx="35580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Can AI really understand biology?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3591375" y="2604700"/>
            <a:ext cx="38622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Would you buy/consume drugs that were developed by AI and is confirmed to be safe?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365542" y="7590424"/>
            <a:ext cx="3558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Would you participate in a clinical trial for a drug made by AI?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1691150" y="7930925"/>
            <a:ext cx="39636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 the lower prices entice enough you to overlook the possibly unknown side effects compared to manmade drugs?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3557827" y="847729"/>
            <a:ext cx="387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Question 1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13587482" y="1989107"/>
            <a:ext cx="387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Question 2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1209547" y="7043404"/>
            <a:ext cx="387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Question 3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11879107" y="7043403"/>
            <a:ext cx="387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Question 4</a:t>
            </a:r>
            <a:endParaRPr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321" name="Google Shape;321;p23"/>
          <p:cNvSpPr txBox="1"/>
          <p:nvPr/>
        </p:nvSpPr>
        <p:spPr>
          <a:xfrm>
            <a:off x="235674" y="9743600"/>
            <a:ext cx="632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4BADD"/>
                </a:solidFill>
                <a:latin typeface="Poiret One"/>
                <a:ea typeface="Poiret One"/>
                <a:cs typeface="Poiret One"/>
                <a:sym typeface="Poiret One"/>
              </a:rPr>
              <a:t>Question 1 from small molecule article</a:t>
            </a:r>
            <a:endParaRPr sz="2000">
              <a:solidFill>
                <a:srgbClr val="F4BADD"/>
              </a:solidFill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3D2A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4"/>
          <p:cNvGrpSpPr/>
          <p:nvPr/>
        </p:nvGrpSpPr>
        <p:grpSpPr>
          <a:xfrm>
            <a:off x="235666" y="-89823"/>
            <a:ext cx="17817333" cy="10141224"/>
            <a:chOff x="0" y="-85725"/>
            <a:chExt cx="4692600" cy="2670922"/>
          </a:xfrm>
        </p:grpSpPr>
        <p:sp>
          <p:nvSpPr>
            <p:cNvPr id="327" name="Google Shape;327;p24"/>
            <p:cNvSpPr/>
            <p:nvPr/>
          </p:nvSpPr>
          <p:spPr>
            <a:xfrm>
              <a:off x="0" y="0"/>
              <a:ext cx="4692456" cy="2585197"/>
            </a:xfrm>
            <a:custGeom>
              <a:rect b="b" l="l" r="r" t="t"/>
              <a:pathLst>
                <a:path extrusionOk="0" h="2585197" w="4692456">
                  <a:moveTo>
                    <a:pt x="0" y="0"/>
                  </a:moveTo>
                  <a:lnTo>
                    <a:pt x="4692456" y="0"/>
                  </a:lnTo>
                  <a:lnTo>
                    <a:pt x="4692456" y="2585197"/>
                  </a:lnTo>
                  <a:lnTo>
                    <a:pt x="0" y="2585197"/>
                  </a:lnTo>
                  <a:close/>
                </a:path>
              </a:pathLst>
            </a:custGeom>
            <a:solidFill>
              <a:srgbClr val="F4BADD"/>
            </a:solidFill>
            <a:ln>
              <a:noFill/>
            </a:ln>
          </p:spPr>
        </p:sp>
        <p:sp>
          <p:nvSpPr>
            <p:cNvPr id="328" name="Google Shape;328;p24"/>
            <p:cNvSpPr txBox="1"/>
            <p:nvPr/>
          </p:nvSpPr>
          <p:spPr>
            <a:xfrm>
              <a:off x="0" y="-85725"/>
              <a:ext cx="4692600" cy="267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24"/>
          <p:cNvSpPr txBox="1"/>
          <p:nvPr/>
        </p:nvSpPr>
        <p:spPr>
          <a:xfrm>
            <a:off x="2040407" y="289615"/>
            <a:ext cx="14207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063D2A"/>
                </a:solidFill>
                <a:latin typeface="Poiret One"/>
                <a:ea typeface="Poiret One"/>
                <a:cs typeface="Poiret One"/>
                <a:sym typeface="Poiret One"/>
              </a:rPr>
              <a:t>References</a:t>
            </a:r>
            <a:endParaRPr sz="10000">
              <a:latin typeface="Poiret One"/>
              <a:ea typeface="Poiret One"/>
              <a:cs typeface="Poiret One"/>
              <a:sym typeface="Poiret One"/>
            </a:endParaRPr>
          </a:p>
        </p:txBody>
      </p:sp>
      <p:sp>
        <p:nvSpPr>
          <p:cNvPr id="330" name="Google Shape;330;p24"/>
          <p:cNvSpPr txBox="1"/>
          <p:nvPr/>
        </p:nvSpPr>
        <p:spPr>
          <a:xfrm>
            <a:off x="235675" y="1828925"/>
            <a:ext cx="17881500" cy="8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Aam. “Skyrocketing Drug Prices: What’s Driving up Costs?” Association for Accessible Medicines, 14 Apr. 2025, accessiblemeds.org/resources/blog/skyrocketing-drug-prices-whats-driving-costs/.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Center for Drug Evaluation and Research. “Artificial Intelligence for Drug Development.” U.S. Food and Drug Administration, FDA, www.fda.gov/about-fda/center-drug-evaluation-and-research-cder/artificial-intelligence-drug-development.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Chun, Matthew. “How Artificial Intelligence Is Revolutionizing Drug Discovery - Petrie-Flom Center.” Petrie, 23 July 2025, petrieflom.law.harvard.edu/2023/03/20/how-artificial-intelligence-is-revolutionizing-drug-discovery/.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Current Status of Computational Approaches for Small Molecule Drug Discovery | Journal of Medicinal Chemistry, pubs.acs.org/doi/full/10.1021/acs.jmedchem.4c02462.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Fu, Chen, and Qiuchen Chen. “The Future of Pharmaceuticals: Artificial Intelligence in Drug Discovery and Development.” ScienceDirect, 26 Feb. 2025, www.sciencedirect.com/science/article/pii/S2095177925000656#sec4.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Giusti, Natasha. “How Ai Can Make Drug Discovery Faster, Better and Cheaper.” Sanford Burnham Prebys, 22 Apr. 2025, sbpdiscovery.org/how-ai-can-make-drug-discovery-faster-better-and-cheaper/.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Huanbutta, Kampanart, et al. “Artificial Intelligence-Driven Pharmaceutical Industry: A Paradigm Shift in Drug Discovery, Formulation Development, Manufacturing, Quality Control, and Post-Market Surveillance.” ScienceDirect, 16 Oct. 2024, doi.org/10.1016/j.ejps.2024.106938.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“Ins018_055.” National Center for Biotechnology Information. PubChem Compound Database, U.S. National Library of Medicine, pubchem.ncbi.nlm.nih.gov/compound/Ins018_055#section=Structures.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Malariaworld, media.malariaworld.org/s10822_024_00552_6_378fb8dedb.pdf.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Niazi, Sarfaraz K, and Zamara Mariam. “Computer-Aided Drug Design and Drug Discovery: A Prospective Analysis.” Pharmaceuticals (Basel, Switzerland), U.S. National Library of Medicine, 22 Dec. 2023, pmc.ncbi.nlm.nih.gov/articles/PMC10819513/.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Parasrampuria, Sonal. “Comparing U.S. and International Market Size and Average Pricing for Prescription Drugs, 2017-2022.” National Center for Biotechnology Information, U.S. National Library of Medicine, www.ncbi.nlm.nih.gov/books/NBK611829/.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Paul, Debleena, et al. “Artificial Intelligence in Drug Discovery and Development.” Drug Discovery Today, U.S. National Library of Medicine, Jan. 2021, pmc.ncbi.nlm.nih.gov/articles/PMC7577280/.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Ren, Feng, et al. “A Small-Molecule TNIK Inhibitor Targets Fibrosis in Preclinical and Clinical Models.” Nature News, Nature Publishing Group, 8 Mar. 2024, www.nature.com/articles/s41587-024-02143-0#Sec1.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Ren, Feng, et al. “A Small-Molecule TNIK Inhibitor Targets Fibrosis in Preclinical and Clinical Models.” Nature News, Nature Publishing Group, 8 Mar. 2024, www.nature.com/articles/s41587-024-02143-0#Sec1.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Report to Congress Prescription Drug Spending, Pricing Trends, and Premiums, www.dol.gov/sites/dolgov/files/ebsa/laws-and-regulations/laws/no-surprises-act/2024-report-to-congress-prescription-drug-spending.pdf.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Representing Mutations for Predicting Cancer Drug Response | Bioinformatics | Oxford Academic, academic.oup.com/bioinformatics/article/40/Supplement_1/i160/7700872?login=false. Accessed 28 Feb. 2026.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Robert H. Shmerling, MD. “Why Do Your Prescription Drugs Cost so Much?” Harvard Health, 18 Jan. 2024, www.health.harvard.edu/blog/why-do-your-prescription-drugs-cost-so-much-202401183007. 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2424"/>
                </a:solidFill>
                <a:latin typeface="Lato"/>
                <a:ea typeface="Lato"/>
                <a:cs typeface="Lato"/>
                <a:sym typeface="Lato"/>
              </a:rPr>
              <a:t>Torreele, Els. “Why Are Our Medicines so Expensive? Spoiler: Not for the Reasons You Are Being Told….” The European Journal of General Practice, U.S. National Library of Medicine, Dec. 2024, pmc.ncbi.nlm.nih.gov/articles/PMC10836477/.</a:t>
            </a:r>
            <a:endParaRPr sz="1500">
              <a:solidFill>
                <a:srgbClr val="23242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